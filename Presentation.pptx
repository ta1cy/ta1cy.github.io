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8" r:id="rId4"/>
    <p:sldId id="259" r:id="rId5"/>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50"/>
    <p:restoredTop sz="96327"/>
  </p:normalViewPr>
  <p:slideViewPr>
    <p:cSldViewPr snapToGrid="0">
      <p:cViewPr>
        <p:scale>
          <a:sx n="160" d="100"/>
          <a:sy n="160" d="100"/>
        </p:scale>
        <p:origin x="383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CD5506-1196-144C-BE38-EB5EDEE2E13A}" type="datetimeFigureOut">
              <a:rPr lang="en-US" smtClean="0"/>
              <a:t>12/3/25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5F221-1792-3548-BC68-24FA06E8A7FE}" type="slidenum">
              <a:rPr lang="en-US" smtClean="0"/>
              <a:t>‹#›</a:t>
            </a:fld>
            <a:endParaRPr lang="en-US"/>
          </a:p>
        </p:txBody>
      </p:sp>
    </p:spTree>
    <p:extLst>
      <p:ext uri="{BB962C8B-B14F-4D97-AF65-F5344CB8AC3E}">
        <p14:creationId xmlns:p14="http://schemas.microsoft.com/office/powerpoint/2010/main" val="122803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CD5506-1196-144C-BE38-EB5EDEE2E13A}" type="datetimeFigureOut">
              <a:rPr lang="en-US" smtClean="0"/>
              <a:t>12/3/25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5F221-1792-3548-BC68-24FA06E8A7FE}" type="slidenum">
              <a:rPr lang="en-US" smtClean="0"/>
              <a:t>‹#›</a:t>
            </a:fld>
            <a:endParaRPr lang="en-US"/>
          </a:p>
        </p:txBody>
      </p:sp>
    </p:spTree>
    <p:extLst>
      <p:ext uri="{BB962C8B-B14F-4D97-AF65-F5344CB8AC3E}">
        <p14:creationId xmlns:p14="http://schemas.microsoft.com/office/powerpoint/2010/main" val="2793385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CD5506-1196-144C-BE38-EB5EDEE2E13A}" type="datetimeFigureOut">
              <a:rPr lang="en-US" smtClean="0"/>
              <a:t>12/3/25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5F221-1792-3548-BC68-24FA06E8A7FE}" type="slidenum">
              <a:rPr lang="en-US" smtClean="0"/>
              <a:t>‹#›</a:t>
            </a:fld>
            <a:endParaRPr lang="en-US"/>
          </a:p>
        </p:txBody>
      </p:sp>
    </p:spTree>
    <p:extLst>
      <p:ext uri="{BB962C8B-B14F-4D97-AF65-F5344CB8AC3E}">
        <p14:creationId xmlns:p14="http://schemas.microsoft.com/office/powerpoint/2010/main" val="2411433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CD5506-1196-144C-BE38-EB5EDEE2E13A}" type="datetimeFigureOut">
              <a:rPr lang="en-US" smtClean="0"/>
              <a:t>12/3/25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F5F221-1792-3548-BC68-24FA06E8A7FE}" type="slidenum">
              <a:rPr lang="en-US" smtClean="0"/>
              <a:t>‹#›</a:t>
            </a:fld>
            <a:endParaRPr lang="en-US"/>
          </a:p>
        </p:txBody>
      </p:sp>
    </p:spTree>
    <p:extLst>
      <p:ext uri="{BB962C8B-B14F-4D97-AF65-F5344CB8AC3E}">
        <p14:creationId xmlns:p14="http://schemas.microsoft.com/office/powerpoint/2010/main" val="2453988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CD5506-1196-144C-BE38-EB5EDEE2E13A}" type="datetimeFigureOut">
              <a:rPr lang="en-US" smtClean="0"/>
              <a:t>12/3/25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F5F221-1792-3548-BC68-24FA06E8A7FE}" type="slidenum">
              <a:rPr lang="en-US" smtClean="0"/>
              <a:t>‹#›</a:t>
            </a:fld>
            <a:endParaRPr lang="en-US"/>
          </a:p>
        </p:txBody>
      </p:sp>
    </p:spTree>
    <p:extLst>
      <p:ext uri="{BB962C8B-B14F-4D97-AF65-F5344CB8AC3E}">
        <p14:creationId xmlns:p14="http://schemas.microsoft.com/office/powerpoint/2010/main" val="1811551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CD5506-1196-144C-BE38-EB5EDEE2E13A}" type="datetimeFigureOut">
              <a:rPr lang="en-US" smtClean="0"/>
              <a:t>12/3/25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F5F221-1792-3548-BC68-24FA06E8A7FE}" type="slidenum">
              <a:rPr lang="en-US" smtClean="0"/>
              <a:t>‹#›</a:t>
            </a:fld>
            <a:endParaRPr lang="en-US"/>
          </a:p>
        </p:txBody>
      </p:sp>
    </p:spTree>
    <p:extLst>
      <p:ext uri="{BB962C8B-B14F-4D97-AF65-F5344CB8AC3E}">
        <p14:creationId xmlns:p14="http://schemas.microsoft.com/office/powerpoint/2010/main" val="1579252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CD5506-1196-144C-BE38-EB5EDEE2E13A}" type="datetimeFigureOut">
              <a:rPr lang="en-US" smtClean="0"/>
              <a:t>12/3/25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2F5F221-1792-3548-BC68-24FA06E8A7FE}" type="slidenum">
              <a:rPr lang="en-US" smtClean="0"/>
              <a:t>‹#›</a:t>
            </a:fld>
            <a:endParaRPr lang="en-US"/>
          </a:p>
        </p:txBody>
      </p:sp>
    </p:spTree>
    <p:extLst>
      <p:ext uri="{BB962C8B-B14F-4D97-AF65-F5344CB8AC3E}">
        <p14:creationId xmlns:p14="http://schemas.microsoft.com/office/powerpoint/2010/main" val="1740026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2CD5506-1196-144C-BE38-EB5EDEE2E13A}" type="datetimeFigureOut">
              <a:rPr lang="en-US" smtClean="0"/>
              <a:t>12/3/25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F5F221-1792-3548-BC68-24FA06E8A7FE}" type="slidenum">
              <a:rPr lang="en-US" smtClean="0"/>
              <a:t>‹#›</a:t>
            </a:fld>
            <a:endParaRPr lang="en-US"/>
          </a:p>
        </p:txBody>
      </p:sp>
    </p:spTree>
    <p:extLst>
      <p:ext uri="{BB962C8B-B14F-4D97-AF65-F5344CB8AC3E}">
        <p14:creationId xmlns:p14="http://schemas.microsoft.com/office/powerpoint/2010/main" val="2955654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2CD5506-1196-144C-BE38-EB5EDEE2E13A}" type="datetimeFigureOut">
              <a:rPr lang="en-US" smtClean="0"/>
              <a:t>12/3/25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F5F221-1792-3548-BC68-24FA06E8A7FE}" type="slidenum">
              <a:rPr lang="en-US" smtClean="0"/>
              <a:t>‹#›</a:t>
            </a:fld>
            <a:endParaRPr lang="en-US"/>
          </a:p>
        </p:txBody>
      </p:sp>
    </p:spTree>
    <p:extLst>
      <p:ext uri="{BB962C8B-B14F-4D97-AF65-F5344CB8AC3E}">
        <p14:creationId xmlns:p14="http://schemas.microsoft.com/office/powerpoint/2010/main" val="2401326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CD5506-1196-144C-BE38-EB5EDEE2E13A}" type="datetimeFigureOut">
              <a:rPr lang="en-US" smtClean="0"/>
              <a:t>12/3/25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5F221-1792-3548-BC68-24FA06E8A7FE}" type="slidenum">
              <a:rPr lang="en-US" smtClean="0"/>
              <a:t>‹#›</a:t>
            </a:fld>
            <a:endParaRPr lang="en-US"/>
          </a:p>
        </p:txBody>
      </p:sp>
    </p:spTree>
    <p:extLst>
      <p:ext uri="{BB962C8B-B14F-4D97-AF65-F5344CB8AC3E}">
        <p14:creationId xmlns:p14="http://schemas.microsoft.com/office/powerpoint/2010/main" val="3527982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CD5506-1196-144C-BE38-EB5EDEE2E13A}" type="datetimeFigureOut">
              <a:rPr lang="en-US" smtClean="0"/>
              <a:t>12/3/25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5F221-1792-3548-BC68-24FA06E8A7FE}" type="slidenum">
              <a:rPr lang="en-US" smtClean="0"/>
              <a:t>‹#›</a:t>
            </a:fld>
            <a:endParaRPr lang="en-US"/>
          </a:p>
        </p:txBody>
      </p:sp>
    </p:spTree>
    <p:extLst>
      <p:ext uri="{BB962C8B-B14F-4D97-AF65-F5344CB8AC3E}">
        <p14:creationId xmlns:p14="http://schemas.microsoft.com/office/powerpoint/2010/main" val="453035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E2CD5506-1196-144C-BE38-EB5EDEE2E13A}" type="datetimeFigureOut">
              <a:rPr lang="en-US" smtClean="0"/>
              <a:t>12/3/25</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E2F5F221-1792-3548-BC68-24FA06E8A7FE}" type="slidenum">
              <a:rPr lang="en-US" smtClean="0"/>
              <a:t>‹#›</a:t>
            </a:fld>
            <a:endParaRPr lang="en-US"/>
          </a:p>
        </p:txBody>
      </p:sp>
    </p:spTree>
    <p:extLst>
      <p:ext uri="{BB962C8B-B14F-4D97-AF65-F5344CB8AC3E}">
        <p14:creationId xmlns:p14="http://schemas.microsoft.com/office/powerpoint/2010/main" val="39424288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C9437F1-FE01-33DE-2C68-6D30E6DBE8B3}"/>
              </a:ext>
            </a:extLst>
          </p:cNvPr>
          <p:cNvPicPr>
            <a:picLocks noChangeAspect="1"/>
          </p:cNvPicPr>
          <p:nvPr/>
        </p:nvPicPr>
        <p:blipFill>
          <a:blip r:embed="rId2"/>
          <a:stretch>
            <a:fillRect/>
          </a:stretch>
        </p:blipFill>
        <p:spPr>
          <a:xfrm>
            <a:off x="717646" y="390647"/>
            <a:ext cx="2507456" cy="2393156"/>
          </a:xfrm>
          <a:prstGeom prst="rect">
            <a:avLst/>
          </a:prstGeom>
        </p:spPr>
      </p:pic>
      <p:sp>
        <p:nvSpPr>
          <p:cNvPr id="8" name="TextBox 7">
            <a:extLst>
              <a:ext uri="{FF2B5EF4-FFF2-40B4-BE49-F238E27FC236}">
                <a16:creationId xmlns:a16="http://schemas.microsoft.com/office/drawing/2014/main" id="{69195373-260D-EB6A-F3CE-5006BFF828EF}"/>
              </a:ext>
            </a:extLst>
          </p:cNvPr>
          <p:cNvSpPr txBox="1"/>
          <p:nvPr/>
        </p:nvSpPr>
        <p:spPr>
          <a:xfrm>
            <a:off x="717646" y="2783803"/>
            <a:ext cx="2507456" cy="456087"/>
          </a:xfrm>
          <a:prstGeom prst="rect">
            <a:avLst/>
          </a:prstGeom>
          <a:noFill/>
        </p:spPr>
        <p:txBody>
          <a:bodyPr wrap="square" rtlCol="0">
            <a:spAutoFit/>
          </a:bodyPr>
          <a:lstStyle/>
          <a:p>
            <a:pPr algn="ctr"/>
            <a:r>
              <a:rPr lang="en-US" sz="788" dirty="0"/>
              <a:t>Figure showing the threshold based disease filter applied to the live camera feed, helps isolate potential problems by making inspection easier.</a:t>
            </a:r>
          </a:p>
        </p:txBody>
      </p:sp>
      <p:pic>
        <p:nvPicPr>
          <p:cNvPr id="9" name="Picture 8">
            <a:extLst>
              <a:ext uri="{FF2B5EF4-FFF2-40B4-BE49-F238E27FC236}">
                <a16:creationId xmlns:a16="http://schemas.microsoft.com/office/drawing/2014/main" id="{294EA382-7D6F-CAF9-8B72-AEB674D66CD5}"/>
              </a:ext>
            </a:extLst>
          </p:cNvPr>
          <p:cNvPicPr>
            <a:picLocks noChangeAspect="1"/>
          </p:cNvPicPr>
          <p:nvPr/>
        </p:nvPicPr>
        <p:blipFill>
          <a:blip r:embed="rId3"/>
          <a:stretch>
            <a:fillRect/>
          </a:stretch>
        </p:blipFill>
        <p:spPr>
          <a:xfrm>
            <a:off x="3269174" y="390647"/>
            <a:ext cx="2595599" cy="2393156"/>
          </a:xfrm>
          <a:prstGeom prst="rect">
            <a:avLst/>
          </a:prstGeom>
        </p:spPr>
      </p:pic>
      <p:sp>
        <p:nvSpPr>
          <p:cNvPr id="11" name="TextBox 10">
            <a:extLst>
              <a:ext uri="{FF2B5EF4-FFF2-40B4-BE49-F238E27FC236}">
                <a16:creationId xmlns:a16="http://schemas.microsoft.com/office/drawing/2014/main" id="{ED6A4555-1667-EF00-2774-8044F643733E}"/>
              </a:ext>
            </a:extLst>
          </p:cNvPr>
          <p:cNvSpPr txBox="1"/>
          <p:nvPr/>
        </p:nvSpPr>
        <p:spPr>
          <a:xfrm>
            <a:off x="3225102" y="2783803"/>
            <a:ext cx="2595599" cy="456087"/>
          </a:xfrm>
          <a:prstGeom prst="rect">
            <a:avLst/>
          </a:prstGeom>
          <a:noFill/>
        </p:spPr>
        <p:txBody>
          <a:bodyPr wrap="square" rtlCol="0">
            <a:spAutoFit/>
          </a:bodyPr>
          <a:lstStyle>
            <a:defPPr>
              <a:defRPr lang="en-US"/>
            </a:defPPr>
            <a:lvl1pPr algn="ctr">
              <a:defRPr sz="1400"/>
            </a:lvl1pPr>
          </a:lstStyle>
          <a:p>
            <a:r>
              <a:rPr lang="en-US" sz="788" dirty="0"/>
              <a:t>Figure showing the leaf detection live camera where each detected leaf is outlined with a bounding box and labeled as healthy based on the classifier's output.</a:t>
            </a:r>
          </a:p>
        </p:txBody>
      </p:sp>
    </p:spTree>
    <p:extLst>
      <p:ext uri="{BB962C8B-B14F-4D97-AF65-F5344CB8AC3E}">
        <p14:creationId xmlns:p14="http://schemas.microsoft.com/office/powerpoint/2010/main" val="4185938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8531BF-EB27-F399-691D-448E38796CA0}"/>
              </a:ext>
            </a:extLst>
          </p:cNvPr>
          <p:cNvPicPr>
            <a:picLocks noChangeAspect="1"/>
          </p:cNvPicPr>
          <p:nvPr/>
        </p:nvPicPr>
        <p:blipFill>
          <a:blip r:embed="rId2"/>
          <a:stretch>
            <a:fillRect/>
          </a:stretch>
        </p:blipFill>
        <p:spPr>
          <a:xfrm>
            <a:off x="623944" y="527520"/>
            <a:ext cx="2486025" cy="1571625"/>
          </a:xfrm>
          <a:prstGeom prst="rect">
            <a:avLst/>
          </a:prstGeom>
        </p:spPr>
      </p:pic>
      <p:sp>
        <p:nvSpPr>
          <p:cNvPr id="4" name="TextBox 3">
            <a:extLst>
              <a:ext uri="{FF2B5EF4-FFF2-40B4-BE49-F238E27FC236}">
                <a16:creationId xmlns:a16="http://schemas.microsoft.com/office/drawing/2014/main" id="{4CB3AA02-2CD2-96FA-1605-969313943FDA}"/>
              </a:ext>
            </a:extLst>
          </p:cNvPr>
          <p:cNvSpPr txBox="1"/>
          <p:nvPr/>
        </p:nvSpPr>
        <p:spPr>
          <a:xfrm>
            <a:off x="813379" y="2092916"/>
            <a:ext cx="2107154" cy="456087"/>
          </a:xfrm>
          <a:prstGeom prst="rect">
            <a:avLst/>
          </a:prstGeom>
          <a:noFill/>
        </p:spPr>
        <p:txBody>
          <a:bodyPr wrap="square" rtlCol="0">
            <a:spAutoFit/>
          </a:bodyPr>
          <a:lstStyle>
            <a:defPPr>
              <a:defRPr lang="en-US"/>
            </a:defPPr>
            <a:lvl1pPr algn="ctr">
              <a:defRPr sz="1400"/>
            </a:lvl1pPr>
          </a:lstStyle>
          <a:p>
            <a:r>
              <a:rPr lang="en-US" sz="788" dirty="0"/>
              <a:t>Figure showcasing a 3D model of the</a:t>
            </a:r>
            <a:r>
              <a:rPr lang="zh-CN" altLang="en-US" sz="788" dirty="0"/>
              <a:t> </a:t>
            </a:r>
            <a:r>
              <a:rPr lang="en-US" sz="788" dirty="0"/>
              <a:t>complete 18-unit actuator array in its</a:t>
            </a:r>
            <a:r>
              <a:rPr lang="zh-CN" altLang="en-US" sz="788" dirty="0"/>
              <a:t> </a:t>
            </a:r>
            <a:r>
              <a:rPr lang="en-US" sz="788" dirty="0"/>
              <a:t>assembled layout.</a:t>
            </a:r>
          </a:p>
        </p:txBody>
      </p:sp>
      <p:pic>
        <p:nvPicPr>
          <p:cNvPr id="5" name="Picture 4">
            <a:extLst>
              <a:ext uri="{FF2B5EF4-FFF2-40B4-BE49-F238E27FC236}">
                <a16:creationId xmlns:a16="http://schemas.microsoft.com/office/drawing/2014/main" id="{996F6881-D36B-D4B0-9593-8B157F30C770}"/>
              </a:ext>
            </a:extLst>
          </p:cNvPr>
          <p:cNvPicPr>
            <a:picLocks noChangeAspect="1"/>
          </p:cNvPicPr>
          <p:nvPr/>
        </p:nvPicPr>
        <p:blipFill>
          <a:blip r:embed="rId3"/>
          <a:stretch>
            <a:fillRect/>
          </a:stretch>
        </p:blipFill>
        <p:spPr>
          <a:xfrm>
            <a:off x="3268969" y="527520"/>
            <a:ext cx="1336999" cy="1571625"/>
          </a:xfrm>
          <a:prstGeom prst="rect">
            <a:avLst/>
          </a:prstGeom>
        </p:spPr>
      </p:pic>
      <p:sp>
        <p:nvSpPr>
          <p:cNvPr id="7" name="TextBox 6">
            <a:extLst>
              <a:ext uri="{FF2B5EF4-FFF2-40B4-BE49-F238E27FC236}">
                <a16:creationId xmlns:a16="http://schemas.microsoft.com/office/drawing/2014/main" id="{1C69E458-95FC-8D63-A64C-1C766B7DDCF3}"/>
              </a:ext>
            </a:extLst>
          </p:cNvPr>
          <p:cNvSpPr txBox="1"/>
          <p:nvPr/>
        </p:nvSpPr>
        <p:spPr>
          <a:xfrm>
            <a:off x="2883891" y="2099145"/>
            <a:ext cx="2107154" cy="698589"/>
          </a:xfrm>
          <a:prstGeom prst="rect">
            <a:avLst/>
          </a:prstGeom>
          <a:noFill/>
        </p:spPr>
        <p:txBody>
          <a:bodyPr wrap="square" rtlCol="0">
            <a:spAutoFit/>
          </a:bodyPr>
          <a:lstStyle>
            <a:defPPr>
              <a:defRPr lang="en-US"/>
            </a:defPPr>
            <a:lvl1pPr algn="ctr">
              <a:defRPr sz="1400"/>
            </a:lvl1pPr>
          </a:lstStyle>
          <a:p>
            <a:r>
              <a:rPr lang="en-US" sz="788" dirty="0"/>
              <a:t>A video demonstration of the actuator</a:t>
            </a:r>
            <a:r>
              <a:rPr lang="zh-CN" altLang="en-US" sz="788" dirty="0"/>
              <a:t> </a:t>
            </a:r>
            <a:r>
              <a:rPr lang="en-US" sz="788" dirty="0"/>
              <a:t>array activating multiple modules in</a:t>
            </a:r>
            <a:r>
              <a:rPr lang="zh-CN" altLang="en-US" sz="788" dirty="0"/>
              <a:t> </a:t>
            </a:r>
            <a:r>
              <a:rPr lang="en-US" sz="788" dirty="0"/>
              <a:t>coordinated sequences, displaying</a:t>
            </a:r>
            <a:r>
              <a:rPr lang="zh-CN" altLang="en-US" sz="788" dirty="0"/>
              <a:t> </a:t>
            </a:r>
            <a:r>
              <a:rPr lang="en-US" sz="788" dirty="0"/>
              <a:t>smooth vertical motion and responsive</a:t>
            </a:r>
            <a:r>
              <a:rPr lang="zh-CN" altLang="en-US" sz="788" dirty="0"/>
              <a:t> </a:t>
            </a:r>
            <a:r>
              <a:rPr lang="en-US" sz="788" dirty="0"/>
              <a:t>shape changes across the full 18 unit</a:t>
            </a:r>
            <a:r>
              <a:rPr lang="zh-CN" altLang="en-US" sz="788" dirty="0"/>
              <a:t> </a:t>
            </a:r>
            <a:r>
              <a:rPr lang="en-US" sz="788" dirty="0"/>
              <a:t>grid.</a:t>
            </a:r>
          </a:p>
        </p:txBody>
      </p:sp>
    </p:spTree>
    <p:extLst>
      <p:ext uri="{BB962C8B-B14F-4D97-AF65-F5344CB8AC3E}">
        <p14:creationId xmlns:p14="http://schemas.microsoft.com/office/powerpoint/2010/main" val="1683018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0D94ACB-571A-F938-5E73-A28EDEC4229C}"/>
              </a:ext>
            </a:extLst>
          </p:cNvPr>
          <p:cNvPicPr>
            <a:picLocks noChangeAspect="1"/>
          </p:cNvPicPr>
          <p:nvPr/>
        </p:nvPicPr>
        <p:blipFill>
          <a:blip r:embed="rId2"/>
          <a:stretch>
            <a:fillRect/>
          </a:stretch>
        </p:blipFill>
        <p:spPr>
          <a:xfrm>
            <a:off x="865541" y="68770"/>
            <a:ext cx="2856480" cy="1901503"/>
          </a:xfrm>
          <a:prstGeom prst="rect">
            <a:avLst/>
          </a:prstGeom>
        </p:spPr>
      </p:pic>
      <p:pic>
        <p:nvPicPr>
          <p:cNvPr id="4" name="Picture 3">
            <a:extLst>
              <a:ext uri="{FF2B5EF4-FFF2-40B4-BE49-F238E27FC236}">
                <a16:creationId xmlns:a16="http://schemas.microsoft.com/office/drawing/2014/main" id="{0BCF0081-8361-AB66-8F42-0389D041C46A}"/>
              </a:ext>
            </a:extLst>
          </p:cNvPr>
          <p:cNvPicPr>
            <a:picLocks noChangeAspect="1"/>
          </p:cNvPicPr>
          <p:nvPr/>
        </p:nvPicPr>
        <p:blipFill>
          <a:blip r:embed="rId3"/>
          <a:stretch>
            <a:fillRect/>
          </a:stretch>
        </p:blipFill>
        <p:spPr>
          <a:xfrm>
            <a:off x="3510645" y="68770"/>
            <a:ext cx="2856479" cy="1879262"/>
          </a:xfrm>
          <a:prstGeom prst="rect">
            <a:avLst/>
          </a:prstGeom>
        </p:spPr>
      </p:pic>
      <p:sp>
        <p:nvSpPr>
          <p:cNvPr id="5" name="TextBox 4">
            <a:extLst>
              <a:ext uri="{FF2B5EF4-FFF2-40B4-BE49-F238E27FC236}">
                <a16:creationId xmlns:a16="http://schemas.microsoft.com/office/drawing/2014/main" id="{380715BC-664B-8587-98BB-BAAC3DF06E48}"/>
              </a:ext>
            </a:extLst>
          </p:cNvPr>
          <p:cNvSpPr txBox="1"/>
          <p:nvPr/>
        </p:nvSpPr>
        <p:spPr>
          <a:xfrm>
            <a:off x="1240203" y="1889990"/>
            <a:ext cx="2107154" cy="334835"/>
          </a:xfrm>
          <a:prstGeom prst="rect">
            <a:avLst/>
          </a:prstGeom>
          <a:noFill/>
        </p:spPr>
        <p:txBody>
          <a:bodyPr wrap="square" rtlCol="0">
            <a:spAutoFit/>
          </a:bodyPr>
          <a:lstStyle>
            <a:defPPr>
              <a:defRPr lang="en-US"/>
            </a:defPPr>
            <a:lvl1pPr algn="ctr">
              <a:defRPr sz="1400"/>
            </a:lvl1pPr>
          </a:lstStyle>
          <a:p>
            <a:r>
              <a:rPr lang="en-US" sz="788" dirty="0"/>
              <a:t>Figure 3: Elbow method for select standardized data.</a:t>
            </a:r>
          </a:p>
        </p:txBody>
      </p:sp>
      <p:sp>
        <p:nvSpPr>
          <p:cNvPr id="6" name="TextBox 5">
            <a:extLst>
              <a:ext uri="{FF2B5EF4-FFF2-40B4-BE49-F238E27FC236}">
                <a16:creationId xmlns:a16="http://schemas.microsoft.com/office/drawing/2014/main" id="{ADFE21C0-528F-3FC5-AC8A-EBC0AD10155B}"/>
              </a:ext>
            </a:extLst>
          </p:cNvPr>
          <p:cNvSpPr txBox="1"/>
          <p:nvPr/>
        </p:nvSpPr>
        <p:spPr>
          <a:xfrm>
            <a:off x="3885307" y="1898711"/>
            <a:ext cx="2107154" cy="334835"/>
          </a:xfrm>
          <a:prstGeom prst="rect">
            <a:avLst/>
          </a:prstGeom>
          <a:noFill/>
        </p:spPr>
        <p:txBody>
          <a:bodyPr wrap="square" rtlCol="0">
            <a:spAutoFit/>
          </a:bodyPr>
          <a:lstStyle>
            <a:defPPr>
              <a:defRPr lang="en-US"/>
            </a:defPPr>
            <a:lvl1pPr algn="ctr">
              <a:defRPr sz="1400"/>
            </a:lvl1pPr>
          </a:lstStyle>
          <a:p>
            <a:r>
              <a:rPr lang="en-US" sz="788" dirty="0"/>
              <a:t>Figure 4: </a:t>
            </a:r>
            <a:r>
              <a:rPr lang="en-US" sz="788" dirty="0" err="1"/>
              <a:t>Sihouette</a:t>
            </a:r>
            <a:r>
              <a:rPr lang="en-US" sz="788" dirty="0"/>
              <a:t> analysis for select standardized data.</a:t>
            </a:r>
          </a:p>
        </p:txBody>
      </p:sp>
      <p:pic>
        <p:nvPicPr>
          <p:cNvPr id="3" name="Picture 2">
            <a:extLst>
              <a:ext uri="{FF2B5EF4-FFF2-40B4-BE49-F238E27FC236}">
                <a16:creationId xmlns:a16="http://schemas.microsoft.com/office/drawing/2014/main" id="{E34B903C-3831-CB02-562C-1A8CB3545D56}"/>
              </a:ext>
            </a:extLst>
          </p:cNvPr>
          <p:cNvPicPr>
            <a:picLocks noChangeAspect="1"/>
          </p:cNvPicPr>
          <p:nvPr/>
        </p:nvPicPr>
        <p:blipFill>
          <a:blip r:embed="rId4"/>
          <a:stretch>
            <a:fillRect/>
          </a:stretch>
        </p:blipFill>
        <p:spPr>
          <a:xfrm>
            <a:off x="2298907" y="2291227"/>
            <a:ext cx="2727125" cy="1394274"/>
          </a:xfrm>
          <a:prstGeom prst="rect">
            <a:avLst/>
          </a:prstGeom>
        </p:spPr>
      </p:pic>
      <p:sp>
        <p:nvSpPr>
          <p:cNvPr id="7" name="TextBox 6">
            <a:extLst>
              <a:ext uri="{FF2B5EF4-FFF2-40B4-BE49-F238E27FC236}">
                <a16:creationId xmlns:a16="http://schemas.microsoft.com/office/drawing/2014/main" id="{FF019A2D-ADD4-8909-4425-2499C991B7A0}"/>
              </a:ext>
            </a:extLst>
          </p:cNvPr>
          <p:cNvSpPr txBox="1"/>
          <p:nvPr/>
        </p:nvSpPr>
        <p:spPr>
          <a:xfrm>
            <a:off x="2234229" y="3685501"/>
            <a:ext cx="2856479" cy="577338"/>
          </a:xfrm>
          <a:prstGeom prst="rect">
            <a:avLst/>
          </a:prstGeom>
          <a:noFill/>
        </p:spPr>
        <p:txBody>
          <a:bodyPr wrap="square" rtlCol="0">
            <a:spAutoFit/>
          </a:bodyPr>
          <a:lstStyle>
            <a:defPPr>
              <a:defRPr lang="en-US"/>
            </a:defPPr>
            <a:lvl1pPr algn="ctr">
              <a:defRPr sz="1400"/>
            </a:lvl1pPr>
          </a:lstStyle>
          <a:p>
            <a:r>
              <a:rPr lang="en-US" sz="788" dirty="0"/>
              <a:t>Table showing the 10 fold cross validation results for the neural network classifier, demonstrating consistently high performance across all folds with accuracy near 99 percent and AUC values close to 1.0.</a:t>
            </a:r>
          </a:p>
        </p:txBody>
      </p:sp>
    </p:spTree>
    <p:extLst>
      <p:ext uri="{BB962C8B-B14F-4D97-AF65-F5344CB8AC3E}">
        <p14:creationId xmlns:p14="http://schemas.microsoft.com/office/powerpoint/2010/main" val="4233362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242EE3-B600-0B66-226F-D4C81282D457}"/>
              </a:ext>
            </a:extLst>
          </p:cNvPr>
          <p:cNvPicPr>
            <a:picLocks noChangeAspect="1"/>
          </p:cNvPicPr>
          <p:nvPr/>
        </p:nvPicPr>
        <p:blipFill>
          <a:blip r:embed="rId2"/>
          <a:stretch>
            <a:fillRect/>
          </a:stretch>
        </p:blipFill>
        <p:spPr>
          <a:xfrm>
            <a:off x="4566936" y="4572000"/>
            <a:ext cx="1864519" cy="1828800"/>
          </a:xfrm>
          <a:prstGeom prst="rect">
            <a:avLst/>
          </a:prstGeom>
        </p:spPr>
      </p:pic>
      <p:sp>
        <p:nvSpPr>
          <p:cNvPr id="7" name="TextBox 6">
            <a:extLst>
              <a:ext uri="{FF2B5EF4-FFF2-40B4-BE49-F238E27FC236}">
                <a16:creationId xmlns:a16="http://schemas.microsoft.com/office/drawing/2014/main" id="{B2C1BEFF-649D-97FD-087C-D5D839FC92F3}"/>
              </a:ext>
            </a:extLst>
          </p:cNvPr>
          <p:cNvSpPr txBox="1"/>
          <p:nvPr/>
        </p:nvSpPr>
        <p:spPr>
          <a:xfrm>
            <a:off x="3080491" y="3446696"/>
            <a:ext cx="2551020" cy="698589"/>
          </a:xfrm>
          <a:prstGeom prst="rect">
            <a:avLst/>
          </a:prstGeom>
          <a:noFill/>
        </p:spPr>
        <p:txBody>
          <a:bodyPr wrap="square" rtlCol="0">
            <a:spAutoFit/>
          </a:bodyPr>
          <a:lstStyle>
            <a:defPPr>
              <a:defRPr lang="en-US"/>
            </a:defPPr>
            <a:lvl1pPr algn="ctr">
              <a:defRPr sz="788"/>
            </a:lvl1pPr>
          </a:lstStyle>
          <a:p>
            <a:r>
              <a:rPr lang="en-US" dirty="0"/>
              <a:t>The figure above illustrates the framing algorithm design, showing how the system arranges portrait crops for 1 to 10 people by dividing subjects into left and right-hand groups and assigning stable ID-based positions.</a:t>
            </a:r>
          </a:p>
        </p:txBody>
      </p:sp>
      <p:pic>
        <p:nvPicPr>
          <p:cNvPr id="8" name="Picture 7">
            <a:extLst>
              <a:ext uri="{FF2B5EF4-FFF2-40B4-BE49-F238E27FC236}">
                <a16:creationId xmlns:a16="http://schemas.microsoft.com/office/drawing/2014/main" id="{835C5F13-342A-11C7-6EF2-95CDE30DA7B9}"/>
              </a:ext>
            </a:extLst>
          </p:cNvPr>
          <p:cNvPicPr>
            <a:picLocks noChangeAspect="1"/>
          </p:cNvPicPr>
          <p:nvPr/>
        </p:nvPicPr>
        <p:blipFill>
          <a:blip r:embed="rId3"/>
          <a:stretch>
            <a:fillRect/>
          </a:stretch>
        </p:blipFill>
        <p:spPr>
          <a:xfrm>
            <a:off x="480094" y="1870824"/>
            <a:ext cx="2551020" cy="1552019"/>
          </a:xfrm>
          <a:prstGeom prst="rect">
            <a:avLst/>
          </a:prstGeom>
        </p:spPr>
      </p:pic>
      <p:sp>
        <p:nvSpPr>
          <p:cNvPr id="10" name="TextBox 9">
            <a:extLst>
              <a:ext uri="{FF2B5EF4-FFF2-40B4-BE49-F238E27FC236}">
                <a16:creationId xmlns:a16="http://schemas.microsoft.com/office/drawing/2014/main" id="{4AB7C2AC-A0E0-EBB7-5C1B-11E30563A94F}"/>
              </a:ext>
            </a:extLst>
          </p:cNvPr>
          <p:cNvSpPr txBox="1"/>
          <p:nvPr/>
        </p:nvSpPr>
        <p:spPr>
          <a:xfrm>
            <a:off x="602701" y="3446696"/>
            <a:ext cx="2404560" cy="698589"/>
          </a:xfrm>
          <a:prstGeom prst="rect">
            <a:avLst/>
          </a:prstGeom>
          <a:noFill/>
        </p:spPr>
        <p:txBody>
          <a:bodyPr wrap="square" rtlCol="0">
            <a:spAutoFit/>
          </a:bodyPr>
          <a:lstStyle>
            <a:defPPr>
              <a:defRPr lang="en-US"/>
            </a:defPPr>
            <a:lvl1pPr algn="ctr">
              <a:defRPr sz="788"/>
            </a:lvl1pPr>
          </a:lstStyle>
          <a:p>
            <a:r>
              <a:rPr lang="en-US" dirty="0"/>
              <a:t>A video demonstration of the portrait framing system in action, demonstrating real-time portrait insertion and removal, active speaker highlighting, and identity de-duplication as multiple faces enter or leave the scene.</a:t>
            </a:r>
          </a:p>
        </p:txBody>
      </p:sp>
      <p:pic>
        <p:nvPicPr>
          <p:cNvPr id="12" name="Picture 11">
            <a:extLst>
              <a:ext uri="{FF2B5EF4-FFF2-40B4-BE49-F238E27FC236}">
                <a16:creationId xmlns:a16="http://schemas.microsoft.com/office/drawing/2014/main" id="{A050ACFC-7725-519D-84C8-0C0378888ED4}"/>
              </a:ext>
            </a:extLst>
          </p:cNvPr>
          <p:cNvPicPr>
            <a:picLocks noChangeAspect="1"/>
          </p:cNvPicPr>
          <p:nvPr/>
        </p:nvPicPr>
        <p:blipFill>
          <a:blip r:embed="rId4"/>
          <a:stretch>
            <a:fillRect/>
          </a:stretch>
        </p:blipFill>
        <p:spPr>
          <a:xfrm>
            <a:off x="3080491" y="249507"/>
            <a:ext cx="2551020" cy="3197189"/>
          </a:xfrm>
          <a:prstGeom prst="rect">
            <a:avLst/>
          </a:prstGeom>
        </p:spPr>
      </p:pic>
    </p:spTree>
    <p:extLst>
      <p:ext uri="{BB962C8B-B14F-4D97-AF65-F5344CB8AC3E}">
        <p14:creationId xmlns:p14="http://schemas.microsoft.com/office/powerpoint/2010/main" val="3696331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35</TotalTime>
  <Words>217</Words>
  <Application>Microsoft Macintosh PowerPoint</Application>
  <PresentationFormat>On-screen Show (4:3)</PresentationFormat>
  <Paragraphs>9</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dc:creator>
  <cp:lastModifiedBy>office</cp:lastModifiedBy>
  <cp:revision>3</cp:revision>
  <dcterms:created xsi:type="dcterms:W3CDTF">2025-12-04T01:40:16Z</dcterms:created>
  <dcterms:modified xsi:type="dcterms:W3CDTF">2025-12-04T06:10:45Z</dcterms:modified>
</cp:coreProperties>
</file>